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Source Sans 3"/>
      <p:regular r:id="rId201314"/>
    </p:embeddedFont>
    <p:embeddedFont>
      <p:font typeface="Source Sans 3 Bold"/>
      <p:regular r:id="rId201315"/>
    </p:embeddedFont>
    <p:embeddedFont>
      <p:font typeface="Source Serif 4 Semi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2.png"/><Relationship Id="rId5" Type="http://schemas.openxmlformats.org/officeDocument/2006/relationships/image" Target="../media/image-6-3.svg"/><Relationship Id="rId6" Type="http://schemas.openxmlformats.org/officeDocument/2006/relationships/image" Target="../media/image-6-2.png"/><Relationship Id="rId7" Type="http://schemas.openxmlformats.org/officeDocument/2006/relationships/image" Target="../media/image-6-3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3.png"/><Relationship Id="rId6" Type="http://schemas.openxmlformats.org/officeDocument/2006/relationships/image" Target="../media/image-9-4.svg"/><Relationship Id="rId7" Type="http://schemas.openxmlformats.org/officeDocument/2006/relationships/image" Target="../media/image-9-3.png"/><Relationship Id="rId8" Type="http://schemas.openxmlformats.org/officeDocument/2006/relationships/image" Target="../media/image-9-4.svg"/><Relationship Id="rId9" Type="http://schemas.openxmlformats.org/officeDocument/2006/relationships/image" Target="../media/image-9-3.png"/><Relationship Id="rId10" Type="http://schemas.openxmlformats.org/officeDocument/2006/relationships/image" Target="../media/image-9-4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2403177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74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Customer Churn Analysis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69971" y="3289002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Telecom subscription business · SQL + Python + Power BI · Descriptive analytics only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5269971" y="4151709"/>
            <a:ext cx="1401926" cy="303113"/>
          </a:xfrm>
          <a:prstGeom prst="roundRect">
            <a:avLst>
              <a:gd name="adj" fmla="val 22112"/>
            </a:avLst>
          </a:prstGeom>
          <a:noFill/>
          <a:ln w="6350">
            <a:solidFill>
              <a:srgbClr val="BE49D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89626" y="4211538"/>
            <a:ext cx="1772201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spc="-31" kern="0" dirty="0">
                <a:solidFill>
                  <a:srgbClr val="BE49D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7,043 CUSTOMERS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771610" y="4151709"/>
            <a:ext cx="1062606" cy="303113"/>
          </a:xfrm>
          <a:prstGeom prst="roundRect">
            <a:avLst>
              <a:gd name="adj" fmla="val 22112"/>
            </a:avLst>
          </a:prstGeom>
          <a:noFill/>
          <a:ln w="6350">
            <a:solidFill>
              <a:srgbClr val="BE49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91264" y="4211538"/>
            <a:ext cx="1432881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spc="-31" kern="0" dirty="0">
                <a:solidFill>
                  <a:srgbClr val="BE49D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21 COLUMNS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672902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74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The Business Problem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1558727"/>
            <a:ext cx="622363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 a monthly subscription model, every departing customer takes recurring revenue with them. Leadership needs to know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spc="-31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who is leaving, when, and what can be done</a:t>
            </a:r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using only descriptive analytics.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98086" y="2740620"/>
            <a:ext cx="3012107" cy="1782068"/>
          </a:xfrm>
          <a:prstGeom prst="roundRect">
            <a:avLst>
              <a:gd name="adj" fmla="val 4701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03860" y="2946400"/>
            <a:ext cx="26005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Churn Rate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03860" y="3359348"/>
            <a:ext cx="260055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What is the overall rate, and how much MRR does it cost?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3909617" y="2740620"/>
            <a:ext cx="3012107" cy="1782068"/>
          </a:xfrm>
          <a:prstGeom prst="roundRect">
            <a:avLst>
              <a:gd name="adj" fmla="val 4701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5392" y="2946400"/>
            <a:ext cx="26005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Risk Segments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115392" y="3359348"/>
            <a:ext cx="260055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Which contract types, services, and payment methods drive the most churn?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98086" y="4722118"/>
            <a:ext cx="6223638" cy="1462881"/>
          </a:xfrm>
          <a:prstGeom prst="roundRect">
            <a:avLst>
              <a:gd name="adj" fmla="val 5727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03860" y="4927898"/>
            <a:ext cx="581208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Lifecycle Timing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03860" y="5340846"/>
            <a:ext cx="581208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At what point do customers leave, and which segment should retention target first?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45716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74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The Dataset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931988"/>
            <a:ext cx="6846716" cy="3879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7708" y="1730970"/>
            <a:ext cx="346215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IBM Telco Customer Churn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037708" y="2223691"/>
            <a:ext cx="3462152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widely used sample dataset — one row per customer, ready for end-to-end analysis.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037708" y="3360737"/>
            <a:ext cx="3462152" cy="2781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spc="-31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7,043 customers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across 21 columns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Target: 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Churn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(Yes/No — left in the last month)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features: tenure, contract type, internet service, tech support, payment method, monthly charges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Available on Kaggle and IBM's public GitHub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60685"/>
            <a:ext cx="10795524" cy="330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spc="-42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Data Cleaning in Python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698086" y="1016893"/>
            <a:ext cx="11405108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spc="-18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Eight steps transform the raw CSV into a clean, analysis-ready file. The cleaned output feeds both SQL and Power BI.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228030"/>
            <a:ext cx="10795524" cy="4858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24272" y="1489488"/>
            <a:ext cx="1889194" cy="27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spc="-35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Load &amp; Inspect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2324272" y="1847127"/>
            <a:ext cx="1889194" cy="364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1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Read CSV; check dtypes (TotalCharges text)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192705" y="5133024"/>
            <a:ext cx="1899574" cy="27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spc="-35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Diagnose &amp; Fix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192705" y="5490663"/>
            <a:ext cx="1899574" cy="364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1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Coerce numeric; fill 11 NaNs where tenure=0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040378" y="1362003"/>
            <a:ext cx="1889194" cy="27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spc="-35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Standardize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040378" y="1719642"/>
            <a:ext cx="1889194" cy="54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1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Rename to snake_case; merge "No internet service"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908812" y="5041871"/>
            <a:ext cx="1889193" cy="27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spc="-35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Enrich &amp; Export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908812" y="5399509"/>
            <a:ext cx="1889193" cy="54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1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 churn_flag, tenure_group; export telco_clean.csv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98086" y="6157020"/>
            <a:ext cx="11405108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spc="-18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Result: </a:t>
            </a:r>
            <a:pPr algn="l" indent="0" marL="0">
              <a:lnSpc>
                <a:spcPct val="104000"/>
              </a:lnSpc>
              <a:buNone/>
            </a:pPr>
            <a:r>
              <a:rPr lang="en-US" sz="850" b="1" spc="-18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7,043 rows, 24 columns, zero missing values</a:t>
            </a:r>
            <a:pPr algn="l" indent="0" marL="0">
              <a:lnSpc>
                <a:spcPct val="104000"/>
              </a:lnSpc>
              <a:buNone/>
            </a:pPr>
            <a:r>
              <a:rPr lang="en-US" sz="850" spc="-18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ready for SQL and Power BI.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06562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74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Key SQL Findings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016720"/>
            <a:ext cx="5154484" cy="37102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5476" y="1991816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What the Queries Reveal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345476" y="2484537"/>
            <a:ext cx="5154484" cy="2194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spc="-31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26.5%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of customers churned — 1,869 of 7,043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Month-to-month contract: 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spc="-31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42.7% churn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vs. 2.8% for two-year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Fiber + no tech support: 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spc="-31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49.4%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highest service mix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Electronic check payers: 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spc="-31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45.3%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churn rate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Month-to-month accounts for 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spc="-31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88.6%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of all churners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605730"/>
            <a:ext cx="6223638" cy="48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spc="-61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Power BI Dashboard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698086" y="1296789"/>
            <a:ext cx="6833223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Eight visuals tell the full churn story — from headline KPIs to a segmented heatmap.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1692275"/>
            <a:ext cx="6223638" cy="9910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20429" y="2032992"/>
            <a:ext cx="247743" cy="3096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spc="-39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3"/>
          <p:cNvSpPr/>
          <p:nvPr/>
        </p:nvSpPr>
        <p:spPr>
          <a:xfrm>
            <a:off x="1514536" y="1876425"/>
            <a:ext cx="5223042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31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KPI Cards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514536" y="2201366"/>
            <a:ext cx="5223042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Total customers, churn rate %, MRR lost, MRR lost %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086" y="2820095"/>
            <a:ext cx="6223638" cy="9910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20429" y="3160812"/>
            <a:ext cx="247743" cy="3096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spc="-39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2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514536" y="3004245"/>
            <a:ext cx="5223042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31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Contract &amp; Lifecycle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514536" y="3329186"/>
            <a:ext cx="5223042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Clustered bars for contract effect; column chart for tenure-group drop-off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8086" y="3947914"/>
            <a:ext cx="6223638" cy="99109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20429" y="4288631"/>
            <a:ext cx="247743" cy="3096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spc="-39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3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1514536" y="4132064"/>
            <a:ext cx="5223042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31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Service Mix &amp; Payment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1514536" y="4457005"/>
            <a:ext cx="5223042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Internet × tech support breakdown; payment method risk bars</a:t>
            </a:r>
            <a:endParaRPr lang="en-US" sz="13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8086" y="5075734"/>
            <a:ext cx="6223638" cy="117643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20429" y="5509121"/>
            <a:ext cx="247743" cy="3096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spc="-39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4</a:t>
            </a:r>
            <a:endParaRPr lang="en-US" sz="1950" dirty="0"/>
          </a:p>
        </p:txBody>
      </p:sp>
      <p:sp>
        <p:nvSpPr>
          <p:cNvPr id="19" name="Text 12"/>
          <p:cNvSpPr/>
          <p:nvPr/>
        </p:nvSpPr>
        <p:spPr>
          <a:xfrm>
            <a:off x="1514536" y="5259884"/>
            <a:ext cx="5223042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31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Heatmap Matrix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1514536" y="5584825"/>
            <a:ext cx="5223042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Contract × internet service with gradient conditional formatting — the 57.5% cell stands out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25488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74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The Scale of the Problem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1810841"/>
            <a:ext cx="5273047" cy="658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150" spc="-104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26.5%</a:t>
            </a:r>
            <a:endParaRPr lang="en-US" sz="5150" dirty="0"/>
          </a:p>
        </p:txBody>
      </p:sp>
      <p:sp>
        <p:nvSpPr>
          <p:cNvPr id="4" name="Text 2"/>
          <p:cNvSpPr/>
          <p:nvPr/>
        </p:nvSpPr>
        <p:spPr>
          <a:xfrm>
            <a:off x="698086" y="2718395"/>
            <a:ext cx="527304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Overall Churn Rate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98086" y="3131344"/>
            <a:ext cx="527304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1,869 of 7,043 customers left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220463" y="1810841"/>
            <a:ext cx="5273146" cy="658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150" spc="-104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$139K</a:t>
            </a:r>
            <a:endParaRPr lang="en-US" sz="5150" dirty="0"/>
          </a:p>
        </p:txBody>
      </p:sp>
      <p:sp>
        <p:nvSpPr>
          <p:cNvPr id="7" name="Text 5"/>
          <p:cNvSpPr/>
          <p:nvPr/>
        </p:nvSpPr>
        <p:spPr>
          <a:xfrm>
            <a:off x="6220463" y="2718395"/>
            <a:ext cx="527314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MRR Lost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20463" y="3131344"/>
            <a:ext cx="5273146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30.5% of $456K total recurring revenue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98086" y="3949204"/>
            <a:ext cx="5273047" cy="658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150" spc="-104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47.4%</a:t>
            </a:r>
            <a:endParaRPr lang="en-US" sz="5150" dirty="0"/>
          </a:p>
        </p:txBody>
      </p:sp>
      <p:sp>
        <p:nvSpPr>
          <p:cNvPr id="10" name="Text 8"/>
          <p:cNvSpPr/>
          <p:nvPr/>
        </p:nvSpPr>
        <p:spPr>
          <a:xfrm>
            <a:off x="698086" y="4856758"/>
            <a:ext cx="527304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First-Year Churn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8086" y="5269706"/>
            <a:ext cx="527304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Highest rate of any tenure segment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220463" y="3949204"/>
            <a:ext cx="5273146" cy="658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150" spc="-104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55%</a:t>
            </a:r>
            <a:endParaRPr lang="en-US" sz="5150" dirty="0"/>
          </a:p>
        </p:txBody>
      </p:sp>
      <p:sp>
        <p:nvSpPr>
          <p:cNvPr id="13" name="Text 11"/>
          <p:cNvSpPr/>
          <p:nvPr/>
        </p:nvSpPr>
        <p:spPr>
          <a:xfrm>
            <a:off x="6220463" y="4856758"/>
            <a:ext cx="527314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Of All Churners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20463" y="5269706"/>
            <a:ext cx="5273146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Left within their first 12 months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98086" y="5813227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Churned customers averaged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spc="-31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$74.44/month</a:t>
            </a:r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vs.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spc="-31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$61.27</a:t>
            </a:r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retained — the company is losing its highest-value accounts.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0763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What Drives Churn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974824"/>
            <a:ext cx="5276123" cy="52762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3836" y="3265587"/>
            <a:ext cx="5276123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spc="-18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Key Patterns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223836" y="3462040"/>
            <a:ext cx="5276123" cy="530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00000"/>
              </a:lnSpc>
              <a:buSzPct val="100000"/>
              <a:buChar char="•"/>
            </a:pPr>
            <a:r>
              <a:rPr lang="en-US" sz="750" b="1" spc="-16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Contract length</a:t>
            </a:r>
            <a:pPr algn="l" marL="152400" indent="-152400">
              <a:lnSpc>
                <a:spcPct val="100000"/>
              </a:lnSpc>
              <a:buSzPct val="100000"/>
              <a:buChar char="•"/>
            </a:pPr>
            <a:r>
              <a:rPr lang="en-US" sz="750" spc="-1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is the single strongest lever — month-to-month drives 88.6% of all churn</a:t>
            </a:r>
            <a:endParaRPr lang="en-US" sz="750" dirty="0"/>
          </a:p>
          <a:p>
            <a:pPr algn="l" marL="152400" indent="-152400">
              <a:lnSpc>
                <a:spcPct val="100000"/>
              </a:lnSpc>
              <a:buSzPct val="100000"/>
              <a:buChar char="•"/>
            </a:pPr>
            <a:r>
              <a:rPr lang="en-US" sz="750" b="1" spc="-16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Fiber customers</a:t>
            </a:r>
            <a:pPr algn="l" marL="152400" indent="-152400">
              <a:lnSpc>
                <a:spcPct val="100000"/>
              </a:lnSpc>
              <a:buSzPct val="100000"/>
              <a:buChar char="•"/>
            </a:pPr>
            <a:r>
              <a:rPr lang="en-US" sz="750" spc="-1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churn at 41.9% vs. 19.0% for DSL — worth investigating pricing or quality</a:t>
            </a:r>
            <a:endParaRPr lang="en-US" sz="750" dirty="0"/>
          </a:p>
          <a:p>
            <a:pPr algn="l" marL="152400" indent="-152400">
              <a:lnSpc>
                <a:spcPct val="100000"/>
              </a:lnSpc>
              <a:buSzPct val="100000"/>
              <a:buChar char="•"/>
            </a:pPr>
            <a:r>
              <a:rPr lang="en-US" sz="750" b="1" spc="-16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Tech support and online security</a:t>
            </a:r>
            <a:pPr algn="l" marL="152400" indent="-152400">
              <a:lnSpc>
                <a:spcPct val="100000"/>
              </a:lnSpc>
              <a:buSzPct val="100000"/>
              <a:buChar char="•"/>
            </a:pPr>
            <a:r>
              <a:rPr lang="en-US" sz="750" spc="-1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are protective: no support = 41.6% churn vs. 15.2% with it</a:t>
            </a:r>
            <a:endParaRPr lang="en-US" sz="750" dirty="0"/>
          </a:p>
          <a:p>
            <a:pPr algn="l" marL="152400" indent="-152400">
              <a:lnSpc>
                <a:spcPct val="100000"/>
              </a:lnSpc>
              <a:buSzPct val="100000"/>
              <a:buChar char="•"/>
            </a:pPr>
            <a:r>
              <a:rPr lang="en-US" sz="750" b="1" spc="-16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Automatic payments</a:t>
            </a:r>
            <a:pPr algn="l" marL="152400" indent="-152400">
              <a:lnSpc>
                <a:spcPct val="100000"/>
              </a:lnSpc>
              <a:buSzPct val="100000"/>
              <a:buChar char="•"/>
            </a:pPr>
            <a:r>
              <a:rPr lang="en-US" sz="750" spc="-1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correlate with retention — electronic check is a clear red flag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586879"/>
            <a:ext cx="6223638" cy="1026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spc="-65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Priority Segment &amp; Recommendations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269971" y="1842393"/>
            <a:ext cx="6223638" cy="900708"/>
          </a:xfrm>
          <a:prstGeom prst="roundRect">
            <a:avLst>
              <a:gd name="adj" fmla="val 8139"/>
            </a:avLst>
          </a:prstGeom>
          <a:solidFill>
            <a:srgbClr val="F0D4F7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4493" y="2063651"/>
            <a:ext cx="218177" cy="17452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837191" y="2038648"/>
            <a:ext cx="5481897" cy="523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b="1" spc="-27" kern="0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Top Target:</a:t>
            </a:r>
            <a:pPr algn="l" indent="0" marL="0">
              <a:lnSpc>
                <a:spcPct val="125000"/>
              </a:lnSpc>
              <a:buNone/>
            </a:pPr>
            <a:r>
              <a:rPr lang="en-US" sz="1350" spc="-27" kern="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Month-to-month + Fiber + No Tech Support — 1,796 customers, </a:t>
            </a:r>
            <a:pPr algn="l" indent="0" marL="0">
              <a:lnSpc>
                <a:spcPct val="125000"/>
              </a:lnSpc>
              <a:buNone/>
            </a:pPr>
            <a:r>
              <a:rPr lang="en-US" sz="1350" spc="-27" kern="0" dirty="0">
                <a:solidFill>
                  <a:srgbClr val="BE49D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57.5% churn</a:t>
            </a:r>
            <a:pPr algn="l" indent="0" marL="0">
              <a:lnSpc>
                <a:spcPct val="125000"/>
              </a:lnSpc>
              <a:buNone/>
            </a:pPr>
            <a:r>
              <a:rPr lang="en-US" sz="1350" spc="-27" kern="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55% of all churners, $88K of lost MRR.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5454" y="2920305"/>
            <a:ext cx="261733" cy="26173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837191" y="2914848"/>
            <a:ext cx="5656419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32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Convert to Annual Plans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5837191" y="3263106"/>
            <a:ext cx="5656419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Offer a discount or free month — contract length is the strongest lever.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35454" y="3835698"/>
            <a:ext cx="261733" cy="26173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837191" y="3830241"/>
            <a:ext cx="5656419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32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Bundle Support for New Fiber Customers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5837191" y="4178498"/>
            <a:ext cx="5656419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Free tech support and online security for 3–6 months.</a:t>
            </a:r>
            <a:endParaRPr lang="en-US" sz="13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35454" y="4751090"/>
            <a:ext cx="261733" cy="26173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837191" y="4745633"/>
            <a:ext cx="5656419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32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90-Day Onboarding Program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5837191" y="5093891"/>
            <a:ext cx="5656419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Check-in calls and setup help — over half of churn happens in year one.</a:t>
            </a:r>
            <a:endParaRPr lang="en-US" sz="13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35454" y="5666482"/>
            <a:ext cx="261733" cy="261739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837191" y="5661025"/>
            <a:ext cx="5656419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32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Promote Automatic Payments</a:t>
            </a:r>
            <a:endParaRPr lang="en-US" sz="1600" dirty="0"/>
          </a:p>
        </p:txBody>
      </p:sp>
      <p:sp>
        <p:nvSpPr>
          <p:cNvPr id="18" name="Text 10"/>
          <p:cNvSpPr/>
          <p:nvPr/>
        </p:nvSpPr>
        <p:spPr>
          <a:xfrm>
            <a:off x="5837191" y="6009283"/>
            <a:ext cx="5656419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Bill credit for switching from electronic check to bank transfer or card.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584226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74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Limitations &amp; Next Steps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2669480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What This Analysis Cannot Do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98086" y="3162201"/>
            <a:ext cx="5154484" cy="1735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Shows 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spc="-31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association, not causation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fiber churn may reflect price or coverage gaps not in the data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Contract, payment method, and paperless billing 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spc="-31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overlap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effects are not independent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Single snapshot — 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spc="-31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no time trends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or prediction attempted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201910" y="2470051"/>
            <a:ext cx="5441615" cy="2803723"/>
          </a:xfrm>
          <a:prstGeom prst="roundRect">
            <a:avLst>
              <a:gd name="adj" fmla="val 5123"/>
            </a:avLst>
          </a:prstGeom>
          <a:solidFill>
            <a:srgbClr val="BE49DF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1334" y="2669480"/>
            <a:ext cx="504276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Portfolio Tip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1334" y="3162201"/>
            <a:ext cx="5652351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Package the full project in one GitHub repo: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01334" y="3660874"/>
            <a:ext cx="5042766" cy="1543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000000"/>
                </a:solidFill>
                <a:highlight>
                  <a:srgbClr val="CB56E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clean.py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Python cleaning script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000000"/>
                </a:solidFill>
                <a:highlight>
                  <a:srgbClr val="CB56E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queries.sql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all seven SQL queries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000000"/>
                </a:solidFill>
                <a:highlight>
                  <a:srgbClr val="CB56E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churn_dashboard.pbix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Power BI file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Dashboard screenshot + README summary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2026-09-28T14:14:38Z</dcterms:created>
  <dcterms:modified xsi:type="dcterms:W3CDTF">2026-09-28T14:14:38Z</dcterms:modified>
</cp:coreProperties>
</file>